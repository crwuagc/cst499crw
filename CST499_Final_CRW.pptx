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2" r:id="rId4"/>
  </p:sldMasterIdLst>
  <p:sldIdLst>
    <p:sldId id="257"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7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58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6479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9722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06277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6789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40486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0790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pPr/>
              <a:t>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9988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1170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smtClean="0"/>
              <a:pPr/>
              <a:t>11/2/2025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374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smtClean="0"/>
              <a:pPr/>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3837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67762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smtClean="0"/>
              <a:pPr/>
              <a:t>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97967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13690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591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smtClean="0"/>
              <a:pPr/>
              <a:t>11/2/2025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1268597"/>
      </p:ext>
    </p:extLst>
  </p:cSld>
  <p:clrMap bg1="dk1" tx1="lt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software-engineering/non-functional-requirements-in-software-engineerin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pic>
        <p:nvPicPr>
          <p:cNvPr id="5" name="Picture 4" descr="Group of coworkers collaborating around a table">
            <a:extLst>
              <a:ext uri="{FF2B5EF4-FFF2-40B4-BE49-F238E27FC236}">
                <a16:creationId xmlns:a16="http://schemas.microsoft.com/office/drawing/2014/main" id="{FB5DBD6C-E8A8-B349-AC85-61C44AAEA056}"/>
              </a:ext>
            </a:extLst>
          </p:cNvPr>
          <p:cNvPicPr>
            <a:picLocks noChangeAspect="1"/>
          </p:cNvPicPr>
          <p:nvPr/>
        </p:nvPicPr>
        <p:blipFill rotWithShape="1">
          <a:blip r:embed="rId2" cstate="screen">
            <a:duotone>
              <a:prstClr val="black"/>
              <a:schemeClr val="tx2">
                <a:tint val="45000"/>
                <a:satMod val="400000"/>
              </a:schemeClr>
            </a:duotone>
            <a:alphaModFix/>
            <a:extLst>
              <a:ext uri="{BEBA8EAE-BF5A-486C-A8C5-ECC9F3942E4B}">
                <a14:imgProps xmlns:a14="http://schemas.microsoft.com/office/drawing/2010/main">
                  <a14:imgLayer r:embed="rId3">
                    <a14:imgEffect>
                      <a14:brightnessContrast bright="-46000"/>
                    </a14:imgEffect>
                  </a14:imgLayer>
                </a14:imgProps>
              </a:ext>
              <a:ext uri="{28A0092B-C50C-407E-A947-70E740481C1C}">
                <a14:useLocalDpi xmlns:a14="http://schemas.microsoft.com/office/drawing/2010/main"/>
              </a:ext>
            </a:extLst>
          </a:blip>
          <a:srcRect/>
          <a:stretch/>
        </p:blipFill>
        <p:spPr>
          <a:xfrm>
            <a:off x="330456" y="414458"/>
            <a:ext cx="11531088" cy="6029084"/>
          </a:xfrm>
          <a:prstGeom prst="rect">
            <a:avLst/>
          </a:prstGeom>
        </p:spPr>
      </p:pic>
      <p:sp>
        <p:nvSpPr>
          <p:cNvPr id="2" name="Title 1">
            <a:extLst>
              <a:ext uri="{FF2B5EF4-FFF2-40B4-BE49-F238E27FC236}">
                <a16:creationId xmlns:a16="http://schemas.microsoft.com/office/drawing/2014/main" id="{F266081D-517B-5D43-A7B4-E67DDEDC0B31}"/>
              </a:ext>
            </a:extLst>
          </p:cNvPr>
          <p:cNvSpPr>
            <a:spLocks noGrp="1"/>
          </p:cNvSpPr>
          <p:nvPr>
            <p:ph type="ctrTitle"/>
          </p:nvPr>
        </p:nvSpPr>
        <p:spPr>
          <a:xfrm>
            <a:off x="810001" y="4902200"/>
            <a:ext cx="10572000" cy="694862"/>
          </a:xfrm>
        </p:spPr>
        <p:txBody>
          <a:bodyPr>
            <a:noAutofit/>
          </a:bodyPr>
          <a:lstStyle/>
          <a:p>
            <a:pPr>
              <a:lnSpc>
                <a:spcPct val="90000"/>
              </a:lnSpc>
            </a:pPr>
            <a:r>
              <a:rPr lang="en-US" sz="7200" dirty="0"/>
              <a:t>CST499 University Portal</a:t>
            </a:r>
          </a:p>
        </p:txBody>
      </p:sp>
      <p:sp>
        <p:nvSpPr>
          <p:cNvPr id="4" name="Subtitle 3">
            <a:extLst>
              <a:ext uri="{FF2B5EF4-FFF2-40B4-BE49-F238E27FC236}">
                <a16:creationId xmlns:a16="http://schemas.microsoft.com/office/drawing/2014/main" id="{9CA982C5-8822-5F41-B151-CBFC3278D992}"/>
              </a:ext>
            </a:extLst>
          </p:cNvPr>
          <p:cNvSpPr>
            <a:spLocks noGrp="1"/>
          </p:cNvSpPr>
          <p:nvPr>
            <p:ph type="subTitle" idx="1"/>
          </p:nvPr>
        </p:nvSpPr>
        <p:spPr>
          <a:xfrm>
            <a:off x="810001" y="5594110"/>
            <a:ext cx="10572000" cy="434974"/>
          </a:xfrm>
        </p:spPr>
        <p:txBody>
          <a:bodyPr>
            <a:normAutofit/>
          </a:bodyPr>
          <a:lstStyle/>
          <a:p>
            <a:r>
              <a:rPr lang="en-US" dirty="0"/>
              <a:t>Christopher Rodriguez-Wakim</a:t>
            </a:r>
          </a:p>
        </p:txBody>
      </p:sp>
    </p:spTree>
    <p:extLst>
      <p:ext uri="{BB962C8B-B14F-4D97-AF65-F5344CB8AC3E}">
        <p14:creationId xmlns:p14="http://schemas.microsoft.com/office/powerpoint/2010/main" val="1984022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E4164-E6E7-7C9A-3240-25DA029FA281}"/>
              </a:ext>
            </a:extLst>
          </p:cNvPr>
          <p:cNvSpPr>
            <a:spLocks noGrp="1"/>
          </p:cNvSpPr>
          <p:nvPr>
            <p:ph type="title"/>
          </p:nvPr>
        </p:nvSpPr>
        <p:spPr/>
        <p:txBody>
          <a:bodyPr/>
          <a:lstStyle/>
          <a:p>
            <a:r>
              <a:rPr lang="en-US" dirty="0"/>
              <a:t>SRS Document Key Aspects</a:t>
            </a:r>
          </a:p>
        </p:txBody>
      </p:sp>
      <p:sp>
        <p:nvSpPr>
          <p:cNvPr id="3" name="Content Placeholder 2">
            <a:extLst>
              <a:ext uri="{FF2B5EF4-FFF2-40B4-BE49-F238E27FC236}">
                <a16:creationId xmlns:a16="http://schemas.microsoft.com/office/drawing/2014/main" id="{E63FE68D-413A-A598-4AC9-E6FC696F223D}"/>
              </a:ext>
            </a:extLst>
          </p:cNvPr>
          <p:cNvSpPr>
            <a:spLocks noGrp="1"/>
          </p:cNvSpPr>
          <p:nvPr>
            <p:ph idx="1"/>
          </p:nvPr>
        </p:nvSpPr>
        <p:spPr>
          <a:xfrm>
            <a:off x="818712" y="2561334"/>
            <a:ext cx="10554574" cy="3636511"/>
          </a:xfrm>
        </p:spPr>
        <p:txBody>
          <a:bodyPr/>
          <a:lstStyle/>
          <a:p>
            <a:r>
              <a:rPr lang="en-US" dirty="0"/>
              <a:t>Functional requirements are the specific features that the system needs to be able to perform based on the user and business needs (</a:t>
            </a:r>
            <a:r>
              <a:rPr lang="en-US" i="1" dirty="0"/>
              <a:t>Functional vs. Non Functional Requirements</a:t>
            </a:r>
            <a:r>
              <a:rPr lang="en-US" dirty="0"/>
              <a:t>, 2020). </a:t>
            </a:r>
          </a:p>
          <a:p>
            <a:pPr lvl="0"/>
            <a:r>
              <a:rPr lang="en-US" dirty="0"/>
              <a:t>Functional Requirements:</a:t>
            </a:r>
          </a:p>
          <a:p>
            <a:pPr lvl="1"/>
            <a:r>
              <a:rPr lang="en-US" dirty="0"/>
              <a:t>New user registration that includes account and profile creation.</a:t>
            </a:r>
          </a:p>
          <a:p>
            <a:pPr lvl="1"/>
            <a:r>
              <a:rPr lang="en-US" dirty="0"/>
              <a:t>Each new user should have a unique ID associated with a password. The system should guard against two users using the same ID for registration.</a:t>
            </a:r>
          </a:p>
          <a:p>
            <a:pPr lvl="1"/>
            <a:r>
              <a:rPr lang="en-US" dirty="0"/>
              <a:t>Post registration, users can login to the system at any time using the ID and the password created during the registration process.</a:t>
            </a:r>
          </a:p>
          <a:p>
            <a:pPr lvl="1"/>
            <a:r>
              <a:rPr lang="en-US" dirty="0"/>
              <a:t>A user can also cancel the enrollment from any course that they are enrolled in.</a:t>
            </a:r>
          </a:p>
        </p:txBody>
      </p:sp>
    </p:spTree>
    <p:extLst>
      <p:ext uri="{BB962C8B-B14F-4D97-AF65-F5344CB8AC3E}">
        <p14:creationId xmlns:p14="http://schemas.microsoft.com/office/powerpoint/2010/main" val="168684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A0D7B-717B-41BC-A89F-3D6B5BA77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A49E1D-1F78-80BE-B7BE-80BEEB752F44}"/>
              </a:ext>
            </a:extLst>
          </p:cNvPr>
          <p:cNvSpPr>
            <a:spLocks noGrp="1"/>
          </p:cNvSpPr>
          <p:nvPr>
            <p:ph type="title"/>
          </p:nvPr>
        </p:nvSpPr>
        <p:spPr/>
        <p:txBody>
          <a:bodyPr/>
          <a:lstStyle/>
          <a:p>
            <a:r>
              <a:rPr lang="en-US" dirty="0"/>
              <a:t>SRS Document Key Aspects</a:t>
            </a:r>
          </a:p>
        </p:txBody>
      </p:sp>
      <p:sp>
        <p:nvSpPr>
          <p:cNvPr id="3" name="Content Placeholder 2">
            <a:extLst>
              <a:ext uri="{FF2B5EF4-FFF2-40B4-BE49-F238E27FC236}">
                <a16:creationId xmlns:a16="http://schemas.microsoft.com/office/drawing/2014/main" id="{A147A81D-8748-58FE-B680-EBE1329A32F1}"/>
              </a:ext>
            </a:extLst>
          </p:cNvPr>
          <p:cNvSpPr>
            <a:spLocks noGrp="1"/>
          </p:cNvSpPr>
          <p:nvPr>
            <p:ph idx="1"/>
          </p:nvPr>
        </p:nvSpPr>
        <p:spPr>
          <a:xfrm>
            <a:off x="818712" y="2561334"/>
            <a:ext cx="10554574" cy="3636511"/>
          </a:xfrm>
        </p:spPr>
        <p:txBody>
          <a:bodyPr>
            <a:normAutofit lnSpcReduction="10000"/>
          </a:bodyPr>
          <a:lstStyle/>
          <a:p>
            <a:r>
              <a:rPr lang="en-US" dirty="0"/>
              <a:t>Non-functional requirements are the specifications of the quality attributes of the system, including the performance, reliability, and security of the system (</a:t>
            </a:r>
            <a:r>
              <a:rPr lang="en-US" i="1" dirty="0" err="1"/>
              <a:t>NonFunctional</a:t>
            </a:r>
            <a:r>
              <a:rPr lang="en-US" i="1" dirty="0"/>
              <a:t> Requirements in Software Engineering</a:t>
            </a:r>
            <a:r>
              <a:rPr lang="en-US" dirty="0"/>
              <a:t>, 2020). </a:t>
            </a:r>
          </a:p>
          <a:p>
            <a:r>
              <a:rPr lang="en-US" dirty="0"/>
              <a:t>Non-Functional Requirements:</a:t>
            </a:r>
          </a:p>
          <a:p>
            <a:pPr lvl="1"/>
            <a:r>
              <a:rPr lang="en-US" dirty="0"/>
              <a:t>In terms of response time, it should take no longer than a second or two for the system to respond to any user’s request.</a:t>
            </a:r>
          </a:p>
          <a:p>
            <a:pPr lvl="1"/>
            <a:r>
              <a:rPr lang="en-US" dirty="0"/>
              <a:t>The system needs to be able to handle a number of concurrent users similar to or equal to the number of students attending the university</a:t>
            </a:r>
          </a:p>
          <a:p>
            <a:pPr lvl="1"/>
            <a:r>
              <a:rPr lang="en-US" dirty="0"/>
              <a:t>In terms of reliability and availability, the online registration system must be upkept 24 hours a day, seven days a week, except for maintenance periods which will be announced in advance.</a:t>
            </a:r>
          </a:p>
          <a:p>
            <a:pPr lvl="1"/>
            <a:r>
              <a:rPr lang="en-US" dirty="0"/>
              <a:t>Security is another non-functional requirement that must be focused on, especially since the user profiles contain such sensitive information.</a:t>
            </a:r>
          </a:p>
        </p:txBody>
      </p:sp>
    </p:spTree>
    <p:extLst>
      <p:ext uri="{BB962C8B-B14F-4D97-AF65-F5344CB8AC3E}">
        <p14:creationId xmlns:p14="http://schemas.microsoft.com/office/powerpoint/2010/main" val="597697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EB1D0E3-90F3-BCA8-8021-2F09A5312A82}"/>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sz="4000"/>
              <a:t>UML Design Models</a:t>
            </a:r>
          </a:p>
        </p:txBody>
      </p:sp>
      <p:sp>
        <p:nvSpPr>
          <p:cNvPr id="4" name="Text Placeholder 3">
            <a:extLst>
              <a:ext uri="{FF2B5EF4-FFF2-40B4-BE49-F238E27FC236}">
                <a16:creationId xmlns:a16="http://schemas.microsoft.com/office/drawing/2014/main" id="{C8221CDD-6EEF-89B2-7D9C-1E9FB0856A2E}"/>
              </a:ext>
            </a:extLst>
          </p:cNvPr>
          <p:cNvSpPr>
            <a:spLocks noGrp="1"/>
          </p:cNvSpPr>
          <p:nvPr>
            <p:ph type="body" sz="half" idx="2"/>
          </p:nvPr>
        </p:nvSpPr>
        <p:spPr>
          <a:xfrm>
            <a:off x="818713" y="2413000"/>
            <a:ext cx="3835583" cy="3632200"/>
          </a:xfrm>
        </p:spPr>
        <p:txBody>
          <a:bodyPr vert="horz" lIns="91440" tIns="45720" rIns="91440" bIns="45720" rtlCol="0" anchor="ctr">
            <a:normAutofit/>
          </a:bodyPr>
          <a:lstStyle/>
          <a:p>
            <a:pPr>
              <a:buFont typeface="Wingdings 2" charset="2"/>
              <a:buChar char=""/>
            </a:pPr>
            <a:r>
              <a:rPr lang="en-US" sz="1600" dirty="0"/>
              <a:t>Class Diagram</a:t>
            </a:r>
          </a:p>
          <a:p>
            <a:pPr lvl="1">
              <a:buFont typeface="Wingdings 2" charset="2"/>
              <a:buChar char=""/>
            </a:pPr>
            <a:r>
              <a:rPr lang="en-US" sz="1600" dirty="0"/>
              <a:t>This class diagram showcases how the various classes of the software are connected to one another, in addition to the functions they are able to perform and the variables they contain.</a:t>
            </a:r>
          </a:p>
        </p:txBody>
      </p:sp>
      <p:pic>
        <p:nvPicPr>
          <p:cNvPr id="5" name="Picture 4" descr="A diagram of a class&#10;&#10;AI-generated content may be incorrect.">
            <a:extLst>
              <a:ext uri="{FF2B5EF4-FFF2-40B4-BE49-F238E27FC236}">
                <a16:creationId xmlns:a16="http://schemas.microsoft.com/office/drawing/2014/main" id="{7A3FD037-D7F5-0CF9-E7D5-04C5EDA3B3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266703" y="2413000"/>
            <a:ext cx="3947645" cy="3716338"/>
          </a:xfrm>
          <a:prstGeom prst="roundRect">
            <a:avLst>
              <a:gd name="adj" fmla="val 3876"/>
            </a:avLst>
          </a:prstGeom>
          <a:noFill/>
          <a:ln>
            <a:solidFill>
              <a:schemeClr val="accent1"/>
            </a:solidFill>
          </a:ln>
          <a:effectLst/>
        </p:spPr>
      </p:pic>
    </p:spTree>
    <p:extLst>
      <p:ext uri="{BB962C8B-B14F-4D97-AF65-F5344CB8AC3E}">
        <p14:creationId xmlns:p14="http://schemas.microsoft.com/office/powerpoint/2010/main" val="167298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ABADF3-3312-4B94-6FD7-80CD3FBEBF61}"/>
            </a:ext>
          </a:extLst>
        </p:cNvPr>
        <p:cNvGrpSpPr/>
        <p:nvPr/>
      </p:nvGrpSpPr>
      <p:grpSpPr>
        <a:xfrm>
          <a:off x="0" y="0"/>
          <a:ext cx="0" cy="0"/>
          <a:chOff x="0" y="0"/>
          <a:chExt cx="0" cy="0"/>
        </a:xfrm>
      </p:grpSpPr>
      <p:sp>
        <p:nvSpPr>
          <p:cNvPr id="15"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359DF72-C253-E519-D5A8-7B3CC0B4183F}"/>
              </a:ext>
            </a:extLst>
          </p:cNvPr>
          <p:cNvSpPr>
            <a:spLocks noGrp="1"/>
          </p:cNvSpPr>
          <p:nvPr>
            <p:ph type="title"/>
          </p:nvPr>
        </p:nvSpPr>
        <p:spPr>
          <a:xfrm>
            <a:off x="8164749" y="457201"/>
            <a:ext cx="3575737" cy="1332688"/>
          </a:xfrm>
        </p:spPr>
        <p:txBody>
          <a:bodyPr vert="horz" lIns="91440" tIns="45720" rIns="91440" bIns="45720" rtlCol="0" anchor="b">
            <a:normAutofit/>
          </a:bodyPr>
          <a:lstStyle/>
          <a:p>
            <a:pPr algn="ctr"/>
            <a:r>
              <a:rPr lang="en-US" sz="3200">
                <a:solidFill>
                  <a:srgbClr val="FFFFFF"/>
                </a:solidFill>
              </a:rPr>
              <a:t>UML Design Models</a:t>
            </a:r>
          </a:p>
        </p:txBody>
      </p:sp>
      <p:pic>
        <p:nvPicPr>
          <p:cNvPr id="3" name="Picture 2" descr="A diagram of a sequence diagram&#10;&#10;AI-generated content may be incorrect.">
            <a:extLst>
              <a:ext uri="{FF2B5EF4-FFF2-40B4-BE49-F238E27FC236}">
                <a16:creationId xmlns:a16="http://schemas.microsoft.com/office/drawing/2014/main" id="{482D23E4-543C-A619-96FC-4D9E3A1B8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63961" y="1298489"/>
            <a:ext cx="6612856" cy="3901585"/>
          </a:xfrm>
          <a:prstGeom prst="roundRect">
            <a:avLst>
              <a:gd name="adj" fmla="val 3876"/>
            </a:avLst>
          </a:prstGeom>
          <a:noFill/>
          <a:ln>
            <a:solidFill>
              <a:schemeClr val="accent1"/>
            </a:solidFill>
          </a:ln>
          <a:effectLst/>
        </p:spPr>
      </p:pic>
      <p:sp>
        <p:nvSpPr>
          <p:cNvPr id="4" name="Text Placeholder 3">
            <a:extLst>
              <a:ext uri="{FF2B5EF4-FFF2-40B4-BE49-F238E27FC236}">
                <a16:creationId xmlns:a16="http://schemas.microsoft.com/office/drawing/2014/main" id="{69205836-6F60-8FCF-876A-E4D6BFC9E549}"/>
              </a:ext>
            </a:extLst>
          </p:cNvPr>
          <p:cNvSpPr>
            <a:spLocks noGrp="1"/>
          </p:cNvSpPr>
          <p:nvPr>
            <p:ph type="body" sz="half" idx="2"/>
          </p:nvPr>
        </p:nvSpPr>
        <p:spPr>
          <a:xfrm>
            <a:off x="8164749" y="2024743"/>
            <a:ext cx="3575737" cy="4016619"/>
          </a:xfrm>
        </p:spPr>
        <p:txBody>
          <a:bodyPr vert="horz" lIns="91440" tIns="45720" rIns="91440" bIns="45720" rtlCol="0" anchor="ctr">
            <a:normAutofit/>
          </a:bodyPr>
          <a:lstStyle/>
          <a:p>
            <a:pPr>
              <a:buFont typeface="Wingdings 2" charset="2"/>
              <a:buChar char=""/>
            </a:pPr>
            <a:r>
              <a:rPr lang="en-US" sz="1600">
                <a:solidFill>
                  <a:srgbClr val="FFFFFF"/>
                </a:solidFill>
              </a:rPr>
              <a:t>Sequence Diagram</a:t>
            </a:r>
          </a:p>
          <a:p>
            <a:pPr lvl="1">
              <a:buFont typeface="Wingdings 2" charset="2"/>
              <a:buChar char=""/>
            </a:pPr>
            <a:r>
              <a:rPr lang="en-US" sz="1600">
                <a:solidFill>
                  <a:srgbClr val="FFFFFF"/>
                </a:solidFill>
              </a:rPr>
              <a:t>This sequence diagram demonstrates how different actions that a user takes cause interactions to occur between objects in the system over a period of time.</a:t>
            </a:r>
          </a:p>
        </p:txBody>
      </p:sp>
    </p:spTree>
    <p:extLst>
      <p:ext uri="{BB962C8B-B14F-4D97-AF65-F5344CB8AC3E}">
        <p14:creationId xmlns:p14="http://schemas.microsoft.com/office/powerpoint/2010/main" val="100681692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F9224D-3809-97D0-38AD-51725CA59BD6}"/>
            </a:ext>
          </a:extLst>
        </p:cNvPr>
        <p:cNvGrpSpPr/>
        <p:nvPr/>
      </p:nvGrpSpPr>
      <p:grpSpPr>
        <a:xfrm>
          <a:off x="0" y="0"/>
          <a:ext cx="0" cy="0"/>
          <a:chOff x="0" y="0"/>
          <a:chExt cx="0" cy="0"/>
        </a:xfrm>
      </p:grpSpPr>
      <p:sp>
        <p:nvSpPr>
          <p:cNvPr id="27"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E2264E67-6F59-4D8D-8E5F-8245B0FEA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3">
            <a:extLst>
              <a:ext uri="{FF2B5EF4-FFF2-40B4-BE49-F238E27FC236}">
                <a16:creationId xmlns:a16="http://schemas.microsoft.com/office/drawing/2014/main" id="{158E1C6E-D299-4F5D-B15B-155EBF7F6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218C5E8-D52E-1D72-69BF-738A4673F436}"/>
              </a:ext>
            </a:extLst>
          </p:cNvPr>
          <p:cNvSpPr>
            <a:spLocks noGrp="1"/>
          </p:cNvSpPr>
          <p:nvPr>
            <p:ph type="title"/>
          </p:nvPr>
        </p:nvSpPr>
        <p:spPr>
          <a:xfrm>
            <a:off x="451514" y="457201"/>
            <a:ext cx="3575737" cy="1332688"/>
          </a:xfrm>
        </p:spPr>
        <p:txBody>
          <a:bodyPr vert="horz" lIns="91440" tIns="45720" rIns="91440" bIns="45720" rtlCol="0" anchor="b">
            <a:normAutofit/>
          </a:bodyPr>
          <a:lstStyle/>
          <a:p>
            <a:pPr algn="ctr"/>
            <a:r>
              <a:rPr lang="en-US" sz="3200">
                <a:solidFill>
                  <a:srgbClr val="FFFFFF"/>
                </a:solidFill>
              </a:rPr>
              <a:t>UML Design Models</a:t>
            </a:r>
            <a:endParaRPr lang="en-US" sz="3200" dirty="0">
              <a:solidFill>
                <a:srgbClr val="FFFFFF"/>
              </a:solidFill>
            </a:endParaRPr>
          </a:p>
        </p:txBody>
      </p:sp>
      <p:sp>
        <p:nvSpPr>
          <p:cNvPr id="4" name="Text Placeholder 3">
            <a:extLst>
              <a:ext uri="{FF2B5EF4-FFF2-40B4-BE49-F238E27FC236}">
                <a16:creationId xmlns:a16="http://schemas.microsoft.com/office/drawing/2014/main" id="{E3353363-0225-6FAB-3B88-5C6D3961D607}"/>
              </a:ext>
            </a:extLst>
          </p:cNvPr>
          <p:cNvSpPr>
            <a:spLocks noGrp="1"/>
          </p:cNvSpPr>
          <p:nvPr>
            <p:ph type="body" sz="half" idx="2"/>
          </p:nvPr>
        </p:nvSpPr>
        <p:spPr>
          <a:xfrm>
            <a:off x="451514" y="2046514"/>
            <a:ext cx="3575737" cy="3994848"/>
          </a:xfrm>
        </p:spPr>
        <p:txBody>
          <a:bodyPr vert="horz" lIns="91440" tIns="45720" rIns="91440" bIns="45720" rtlCol="0" anchor="ctr">
            <a:normAutofit/>
          </a:bodyPr>
          <a:lstStyle/>
          <a:p>
            <a:pPr>
              <a:buFont typeface="Wingdings 2" charset="2"/>
              <a:buChar char=""/>
            </a:pPr>
            <a:r>
              <a:rPr lang="en-US" sz="1600" dirty="0">
                <a:solidFill>
                  <a:srgbClr val="FFFFFF"/>
                </a:solidFill>
              </a:rPr>
              <a:t>Activity Diagram</a:t>
            </a:r>
          </a:p>
          <a:p>
            <a:pPr lvl="1">
              <a:buFont typeface="Wingdings 2" charset="2"/>
              <a:buChar char=""/>
            </a:pPr>
            <a:r>
              <a:rPr lang="en-US" sz="1600" dirty="0">
                <a:solidFill>
                  <a:srgbClr val="FFFFFF"/>
                </a:solidFill>
              </a:rPr>
              <a:t>This activity diagram showcases the workflow of the software system, including the different choices that a user can make and their results.</a:t>
            </a:r>
          </a:p>
        </p:txBody>
      </p:sp>
      <p:pic>
        <p:nvPicPr>
          <p:cNvPr id="5" name="Picture 4" descr="A diagram of a flowchart&#10;&#10;AI-generated content may be incorrect.">
            <a:extLst>
              <a:ext uri="{FF2B5EF4-FFF2-40B4-BE49-F238E27FC236}">
                <a16:creationId xmlns:a16="http://schemas.microsoft.com/office/drawing/2014/main" id="{84B6E49F-4576-2E39-3DB5-3919E7934A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169052" y="643467"/>
            <a:ext cx="2491218" cy="5272421"/>
          </a:xfrm>
          <a:prstGeom prst="roundRect">
            <a:avLst>
              <a:gd name="adj" fmla="val 3876"/>
            </a:avLst>
          </a:prstGeom>
          <a:noFill/>
          <a:ln>
            <a:solidFill>
              <a:schemeClr val="accent1"/>
            </a:solidFill>
          </a:ln>
          <a:effectLst/>
        </p:spPr>
      </p:pic>
    </p:spTree>
    <p:extLst>
      <p:ext uri="{BB962C8B-B14F-4D97-AF65-F5344CB8AC3E}">
        <p14:creationId xmlns:p14="http://schemas.microsoft.com/office/powerpoint/2010/main" val="238129446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F91D052-615B-9FB1-B5B6-8387A9684F4D}"/>
            </a:ext>
          </a:extLst>
        </p:cNvPr>
        <p:cNvGrpSpPr/>
        <p:nvPr/>
      </p:nvGrpSpPr>
      <p:grpSpPr>
        <a:xfrm>
          <a:off x="0" y="0"/>
          <a:ext cx="0" cy="0"/>
          <a:chOff x="0" y="0"/>
          <a:chExt cx="0" cy="0"/>
        </a:xfrm>
      </p:grpSpPr>
      <p:sp>
        <p:nvSpPr>
          <p:cNvPr id="13"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DD1A595-6057-4635-CB59-43CA51266E77}"/>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sz="4000"/>
              <a:t>UML Design Models</a:t>
            </a:r>
          </a:p>
        </p:txBody>
      </p:sp>
      <p:sp>
        <p:nvSpPr>
          <p:cNvPr id="4" name="Text Placeholder 3">
            <a:extLst>
              <a:ext uri="{FF2B5EF4-FFF2-40B4-BE49-F238E27FC236}">
                <a16:creationId xmlns:a16="http://schemas.microsoft.com/office/drawing/2014/main" id="{22503D7A-3C8D-CB06-0518-9B9D7731EC00}"/>
              </a:ext>
            </a:extLst>
          </p:cNvPr>
          <p:cNvSpPr>
            <a:spLocks noGrp="1"/>
          </p:cNvSpPr>
          <p:nvPr>
            <p:ph type="body" sz="half" idx="2"/>
          </p:nvPr>
        </p:nvSpPr>
        <p:spPr>
          <a:xfrm>
            <a:off x="818713" y="2413000"/>
            <a:ext cx="3835583" cy="3632200"/>
          </a:xfrm>
        </p:spPr>
        <p:txBody>
          <a:bodyPr vert="horz" lIns="91440" tIns="45720" rIns="91440" bIns="45720" rtlCol="0" anchor="ctr">
            <a:normAutofit/>
          </a:bodyPr>
          <a:lstStyle/>
          <a:p>
            <a:pPr>
              <a:buFont typeface="Wingdings 2" charset="2"/>
              <a:buChar char=""/>
            </a:pPr>
            <a:r>
              <a:rPr lang="en-US" sz="1600"/>
              <a:t>State Diagram</a:t>
            </a:r>
          </a:p>
          <a:p>
            <a:pPr lvl="1">
              <a:buFont typeface="Wingdings 2" charset="2"/>
              <a:buChar char=""/>
            </a:pPr>
            <a:r>
              <a:rPr lang="en-US" sz="1600"/>
              <a:t>This state diagram models the states of the software system and the transitions that occur between those states.</a:t>
            </a:r>
          </a:p>
        </p:txBody>
      </p:sp>
      <p:pic>
        <p:nvPicPr>
          <p:cNvPr id="6" name="Picture 5" descr="A diagram of a state diagram&#10;&#10;AI-generated content may be incorrect.">
            <a:extLst>
              <a:ext uri="{FF2B5EF4-FFF2-40B4-BE49-F238E27FC236}">
                <a16:creationId xmlns:a16="http://schemas.microsoft.com/office/drawing/2014/main" id="{58132E05-69B1-D688-4369-C26F54F6DA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517933" y="2413000"/>
            <a:ext cx="5445184" cy="3716338"/>
          </a:xfrm>
          <a:prstGeom prst="roundRect">
            <a:avLst>
              <a:gd name="adj" fmla="val 3876"/>
            </a:avLst>
          </a:prstGeom>
          <a:noFill/>
          <a:ln>
            <a:solidFill>
              <a:schemeClr val="accent1"/>
            </a:solidFill>
          </a:ln>
          <a:effectLst/>
        </p:spPr>
      </p:pic>
    </p:spTree>
    <p:extLst>
      <p:ext uri="{BB962C8B-B14F-4D97-AF65-F5344CB8AC3E}">
        <p14:creationId xmlns:p14="http://schemas.microsoft.com/office/powerpoint/2010/main" val="625685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9F0C83-E6E8-D1F1-2C60-DEBDB71993C2}"/>
            </a:ext>
          </a:extLst>
        </p:cNvPr>
        <p:cNvGrpSpPr/>
        <p:nvPr/>
      </p:nvGrpSpPr>
      <p:grpSpPr>
        <a:xfrm>
          <a:off x="0" y="0"/>
          <a:ext cx="0" cy="0"/>
          <a:chOff x="0" y="0"/>
          <a:chExt cx="0" cy="0"/>
        </a:xfrm>
      </p:grpSpPr>
      <p:sp>
        <p:nvSpPr>
          <p:cNvPr id="12"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9D336D4B-F9C3-4167-9191-8DA896C80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069BF0B4-2BF1-40F2-8D8E-9CFCED97D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0" y="4672012"/>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F1B6CC4-2FA2-251C-BA49-8A1ED11E6239}"/>
              </a:ext>
            </a:extLst>
          </p:cNvPr>
          <p:cNvSpPr>
            <a:spLocks noGrp="1"/>
          </p:cNvSpPr>
          <p:nvPr>
            <p:ph type="title"/>
          </p:nvPr>
        </p:nvSpPr>
        <p:spPr>
          <a:xfrm>
            <a:off x="451513" y="5176569"/>
            <a:ext cx="4589009" cy="970450"/>
          </a:xfrm>
        </p:spPr>
        <p:txBody>
          <a:bodyPr vert="horz" lIns="91440" tIns="45720" rIns="91440" bIns="45720" rtlCol="0" anchor="ctr">
            <a:normAutofit/>
          </a:bodyPr>
          <a:lstStyle/>
          <a:p>
            <a:r>
              <a:rPr lang="en-US" sz="2400"/>
              <a:t>UML Design Models</a:t>
            </a:r>
          </a:p>
        </p:txBody>
      </p:sp>
      <p:pic>
        <p:nvPicPr>
          <p:cNvPr id="3" name="Picture 2" descr="Diagram of a student using a case diagram&#10;&#10;AI-generated content may be incorrect.">
            <a:extLst>
              <a:ext uri="{FF2B5EF4-FFF2-40B4-BE49-F238E27FC236}">
                <a16:creationId xmlns:a16="http://schemas.microsoft.com/office/drawing/2014/main" id="{3ED58643-F3AB-07B9-2E61-37E993EE1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14351" y="514350"/>
            <a:ext cx="10144367" cy="3930942"/>
          </a:xfrm>
          <a:prstGeom prst="roundRect">
            <a:avLst>
              <a:gd name="adj" fmla="val 3876"/>
            </a:avLst>
          </a:prstGeom>
          <a:noFill/>
          <a:ln>
            <a:solidFill>
              <a:schemeClr val="accent1"/>
            </a:solidFill>
          </a:ln>
          <a:effectLst/>
        </p:spPr>
      </p:pic>
      <p:sp>
        <p:nvSpPr>
          <p:cNvPr id="4" name="Text Placeholder 3">
            <a:extLst>
              <a:ext uri="{FF2B5EF4-FFF2-40B4-BE49-F238E27FC236}">
                <a16:creationId xmlns:a16="http://schemas.microsoft.com/office/drawing/2014/main" id="{65E110B5-AB94-CB85-5F6D-60152E9C5378}"/>
              </a:ext>
            </a:extLst>
          </p:cNvPr>
          <p:cNvSpPr>
            <a:spLocks noGrp="1"/>
          </p:cNvSpPr>
          <p:nvPr>
            <p:ph type="body" sz="half" idx="2"/>
          </p:nvPr>
        </p:nvSpPr>
        <p:spPr>
          <a:xfrm>
            <a:off x="5344886" y="5176569"/>
            <a:ext cx="6028400" cy="970450"/>
          </a:xfrm>
        </p:spPr>
        <p:txBody>
          <a:bodyPr vert="horz" lIns="91440" tIns="45720" rIns="91440" bIns="45720" rtlCol="0" anchor="ctr">
            <a:normAutofit lnSpcReduction="10000"/>
          </a:bodyPr>
          <a:lstStyle/>
          <a:p>
            <a:pPr>
              <a:lnSpc>
                <a:spcPct val="90000"/>
              </a:lnSpc>
              <a:buFont typeface="Wingdings 2" charset="2"/>
              <a:buChar char=""/>
            </a:pPr>
            <a:r>
              <a:rPr lang="en-US" dirty="0">
                <a:solidFill>
                  <a:srgbClr val="FEFEFE"/>
                </a:solidFill>
              </a:rPr>
              <a:t>Use Case Diagram</a:t>
            </a:r>
          </a:p>
          <a:p>
            <a:pPr lvl="1">
              <a:lnSpc>
                <a:spcPct val="90000"/>
              </a:lnSpc>
              <a:buFont typeface="Wingdings 2" charset="2"/>
              <a:buChar char=""/>
            </a:pPr>
            <a:r>
              <a:rPr lang="en-US" sz="1400" dirty="0">
                <a:solidFill>
                  <a:srgbClr val="FEFEFE"/>
                </a:solidFill>
              </a:rPr>
              <a:t>These use case diagrams demonstrate how the user might interact with the software system, its components, and other entities associated with it. </a:t>
            </a:r>
          </a:p>
        </p:txBody>
      </p:sp>
    </p:spTree>
    <p:extLst>
      <p:ext uri="{BB962C8B-B14F-4D97-AF65-F5344CB8AC3E}">
        <p14:creationId xmlns:p14="http://schemas.microsoft.com/office/powerpoint/2010/main" val="1427668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E2264E67-6F59-4D8D-8E5F-8245B0FEA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23">
            <a:extLst>
              <a:ext uri="{FF2B5EF4-FFF2-40B4-BE49-F238E27FC236}">
                <a16:creationId xmlns:a16="http://schemas.microsoft.com/office/drawing/2014/main" id="{158E1C6E-D299-4F5D-B15B-155EBF7F6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C3C12D-DE33-F633-63F3-5196DE88A910}"/>
              </a:ext>
            </a:extLst>
          </p:cNvPr>
          <p:cNvSpPr>
            <a:spLocks noGrp="1"/>
          </p:cNvSpPr>
          <p:nvPr>
            <p:ph type="title"/>
          </p:nvPr>
        </p:nvSpPr>
        <p:spPr>
          <a:xfrm>
            <a:off x="451514" y="457201"/>
            <a:ext cx="3575737" cy="1332688"/>
          </a:xfrm>
        </p:spPr>
        <p:txBody>
          <a:bodyPr vert="horz" lIns="91440" tIns="45720" rIns="91440" bIns="45720" rtlCol="0" anchor="b">
            <a:normAutofit/>
          </a:bodyPr>
          <a:lstStyle/>
          <a:p>
            <a:pPr algn="ctr"/>
            <a:r>
              <a:rPr lang="en-US" sz="3200">
                <a:solidFill>
                  <a:srgbClr val="FFFFFF"/>
                </a:solidFill>
              </a:rPr>
              <a:t>Landing, Login, and Enrollment</a:t>
            </a:r>
          </a:p>
        </p:txBody>
      </p:sp>
      <p:sp>
        <p:nvSpPr>
          <p:cNvPr id="4" name="Text Placeholder 3">
            <a:extLst>
              <a:ext uri="{FF2B5EF4-FFF2-40B4-BE49-F238E27FC236}">
                <a16:creationId xmlns:a16="http://schemas.microsoft.com/office/drawing/2014/main" id="{2EE07AD9-A296-3958-388B-808EC9A0A9F2}"/>
              </a:ext>
            </a:extLst>
          </p:cNvPr>
          <p:cNvSpPr>
            <a:spLocks noGrp="1"/>
          </p:cNvSpPr>
          <p:nvPr>
            <p:ph type="body" sz="half" idx="2"/>
          </p:nvPr>
        </p:nvSpPr>
        <p:spPr>
          <a:xfrm>
            <a:off x="451514" y="2046514"/>
            <a:ext cx="3575737" cy="3994848"/>
          </a:xfrm>
        </p:spPr>
        <p:txBody>
          <a:bodyPr vert="horz" lIns="91440" tIns="45720" rIns="91440" bIns="45720" rtlCol="0" anchor="ctr">
            <a:normAutofit/>
          </a:bodyPr>
          <a:lstStyle/>
          <a:p>
            <a:pPr>
              <a:buFont typeface="Wingdings 2" charset="2"/>
              <a:buChar char=""/>
            </a:pPr>
            <a:r>
              <a:rPr lang="en-US" sz="1600" dirty="0">
                <a:solidFill>
                  <a:srgbClr val="FFFFFF"/>
                </a:solidFill>
              </a:rPr>
              <a:t>The landing page contains a brief introduction to the University Portal and provides links to the login and enrollment pages. </a:t>
            </a:r>
          </a:p>
        </p:txBody>
      </p:sp>
      <p:pic>
        <p:nvPicPr>
          <p:cNvPr id="5" name="Picture 4" descr="A screenshot of a computer&#10;&#10;AI-generated content may be incorrect.">
            <a:extLst>
              <a:ext uri="{FF2B5EF4-FFF2-40B4-BE49-F238E27FC236}">
                <a16:creationId xmlns:a16="http://schemas.microsoft.com/office/drawing/2014/main" id="{94BD3395-968D-980A-B8AD-A1AD8A2B38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280790" y="764746"/>
            <a:ext cx="6267743" cy="5029863"/>
          </a:xfrm>
          <a:prstGeom prst="roundRect">
            <a:avLst>
              <a:gd name="adj" fmla="val 3876"/>
            </a:avLst>
          </a:prstGeom>
          <a:noFill/>
          <a:ln>
            <a:solidFill>
              <a:schemeClr val="accent1"/>
            </a:solidFill>
          </a:ln>
          <a:effectLst/>
        </p:spPr>
      </p:pic>
    </p:spTree>
    <p:extLst>
      <p:ext uri="{BB962C8B-B14F-4D97-AF65-F5344CB8AC3E}">
        <p14:creationId xmlns:p14="http://schemas.microsoft.com/office/powerpoint/2010/main" val="146931602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73FA58-30D2-18A2-E7C0-92DE52CB0FC7}"/>
            </a:ext>
          </a:extLst>
        </p:cNvPr>
        <p:cNvGrpSpPr/>
        <p:nvPr/>
      </p:nvGrpSpPr>
      <p:grpSpPr>
        <a:xfrm>
          <a:off x="0" y="0"/>
          <a:ext cx="0" cy="0"/>
          <a:chOff x="0" y="0"/>
          <a:chExt cx="0" cy="0"/>
        </a:xfrm>
      </p:grpSpPr>
      <p:sp>
        <p:nvSpPr>
          <p:cNvPr id="9"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D71CC4A-FB93-7B47-BD70-AB268E6D9858}"/>
              </a:ext>
            </a:extLst>
          </p:cNvPr>
          <p:cNvSpPr>
            <a:spLocks noGrp="1"/>
          </p:cNvSpPr>
          <p:nvPr>
            <p:ph type="title"/>
          </p:nvPr>
        </p:nvSpPr>
        <p:spPr>
          <a:xfrm>
            <a:off x="8164749" y="457201"/>
            <a:ext cx="3575737" cy="1332688"/>
          </a:xfrm>
        </p:spPr>
        <p:txBody>
          <a:bodyPr vert="horz" lIns="91440" tIns="45720" rIns="91440" bIns="45720" rtlCol="0" anchor="b">
            <a:normAutofit/>
          </a:bodyPr>
          <a:lstStyle/>
          <a:p>
            <a:pPr algn="ctr"/>
            <a:r>
              <a:rPr lang="en-US" sz="3200">
                <a:solidFill>
                  <a:srgbClr val="FFFFFF"/>
                </a:solidFill>
              </a:rPr>
              <a:t>Landing, Login, and Enrollment</a:t>
            </a:r>
          </a:p>
        </p:txBody>
      </p:sp>
      <p:pic>
        <p:nvPicPr>
          <p:cNvPr id="3" name="Picture 2" descr="A screenshot of a computer&#10;&#10;AI-generated content may be incorrect.">
            <a:extLst>
              <a:ext uri="{FF2B5EF4-FFF2-40B4-BE49-F238E27FC236}">
                <a16:creationId xmlns:a16="http://schemas.microsoft.com/office/drawing/2014/main" id="{82D7C328-ADA2-BA7D-D1AC-7B9549BF92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1096972" y="457201"/>
            <a:ext cx="5346833" cy="5584161"/>
          </a:xfrm>
          <a:prstGeom prst="roundRect">
            <a:avLst>
              <a:gd name="adj" fmla="val 3876"/>
            </a:avLst>
          </a:prstGeom>
          <a:noFill/>
          <a:ln>
            <a:solidFill>
              <a:schemeClr val="accent1"/>
            </a:solidFill>
          </a:ln>
          <a:effectLst/>
        </p:spPr>
      </p:pic>
      <p:sp>
        <p:nvSpPr>
          <p:cNvPr id="4" name="Text Placeholder 3">
            <a:extLst>
              <a:ext uri="{FF2B5EF4-FFF2-40B4-BE49-F238E27FC236}">
                <a16:creationId xmlns:a16="http://schemas.microsoft.com/office/drawing/2014/main" id="{DE85B876-B4C5-95F0-3F4C-8E4EBF5452AC}"/>
              </a:ext>
            </a:extLst>
          </p:cNvPr>
          <p:cNvSpPr>
            <a:spLocks noGrp="1"/>
          </p:cNvSpPr>
          <p:nvPr>
            <p:ph type="body" sz="half" idx="2"/>
          </p:nvPr>
        </p:nvSpPr>
        <p:spPr>
          <a:xfrm>
            <a:off x="8164749" y="2024743"/>
            <a:ext cx="3575737" cy="4016619"/>
          </a:xfrm>
        </p:spPr>
        <p:txBody>
          <a:bodyPr vert="horz" lIns="91440" tIns="45720" rIns="91440" bIns="45720" rtlCol="0" anchor="ctr">
            <a:normAutofit/>
          </a:bodyPr>
          <a:lstStyle/>
          <a:p>
            <a:pPr>
              <a:buFont typeface="Wingdings 2" charset="2"/>
              <a:buChar char=""/>
            </a:pPr>
            <a:r>
              <a:rPr lang="en-US" sz="1600" dirty="0">
                <a:solidFill>
                  <a:srgbClr val="FFFFFF"/>
                </a:solidFill>
              </a:rPr>
              <a:t>The enrollment page prompts users to enroll as a new student by entering their email address, password, first name, last name, address, phone number, and social security number.</a:t>
            </a:r>
          </a:p>
          <a:p>
            <a:pPr>
              <a:buFont typeface="Wingdings 2" charset="2"/>
              <a:buChar char=""/>
            </a:pPr>
            <a:r>
              <a:rPr lang="en-US" sz="1600" dirty="0">
                <a:solidFill>
                  <a:srgbClr val="FFFFFF"/>
                </a:solidFill>
              </a:rPr>
              <a:t>If the password that the user enters is not unique, it will cause an error and prompt the user to choose a unique one. </a:t>
            </a:r>
          </a:p>
          <a:p>
            <a:pPr>
              <a:buFont typeface="Wingdings 2" charset="2"/>
              <a:buChar char=""/>
            </a:pPr>
            <a:r>
              <a:rPr lang="en-US" sz="1600" dirty="0">
                <a:solidFill>
                  <a:srgbClr val="FFFFFF"/>
                </a:solidFill>
              </a:rPr>
              <a:t>Upon enrolling, the user’s information is saved in the student table in the database.</a:t>
            </a:r>
          </a:p>
        </p:txBody>
      </p:sp>
    </p:spTree>
    <p:extLst>
      <p:ext uri="{BB962C8B-B14F-4D97-AF65-F5344CB8AC3E}">
        <p14:creationId xmlns:p14="http://schemas.microsoft.com/office/powerpoint/2010/main" val="81257069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6CBDA06-F8F0-46F8-DF68-E54C1E0794EE}"/>
            </a:ext>
          </a:extLst>
        </p:cNvPr>
        <p:cNvGrpSpPr/>
        <p:nvPr/>
      </p:nvGrpSpPr>
      <p:grpSpPr>
        <a:xfrm>
          <a:off x="0" y="0"/>
          <a:ext cx="0" cy="0"/>
          <a:chOff x="0" y="0"/>
          <a:chExt cx="0" cy="0"/>
        </a:xfrm>
      </p:grpSpPr>
      <p:sp>
        <p:nvSpPr>
          <p:cNvPr id="21"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738A52F-A867-BEB5-33F1-864E16475955}"/>
              </a:ext>
            </a:extLst>
          </p:cNvPr>
          <p:cNvSpPr>
            <a:spLocks noGrp="1"/>
          </p:cNvSpPr>
          <p:nvPr>
            <p:ph type="title"/>
          </p:nvPr>
        </p:nvSpPr>
        <p:spPr>
          <a:xfrm>
            <a:off x="810000" y="447188"/>
            <a:ext cx="5359921" cy="970450"/>
          </a:xfrm>
        </p:spPr>
        <p:txBody>
          <a:bodyPr vert="horz" lIns="91440" tIns="45720" rIns="91440" bIns="45720" rtlCol="0" anchor="b">
            <a:normAutofit/>
          </a:bodyPr>
          <a:lstStyle/>
          <a:p>
            <a:pPr>
              <a:lnSpc>
                <a:spcPct val="90000"/>
              </a:lnSpc>
            </a:pPr>
            <a:r>
              <a:rPr lang="en-US" sz="3100"/>
              <a:t>Landing, Login, and Enrollment</a:t>
            </a:r>
          </a:p>
        </p:txBody>
      </p:sp>
      <p:sp>
        <p:nvSpPr>
          <p:cNvPr id="4" name="Text Placeholder 3">
            <a:extLst>
              <a:ext uri="{FF2B5EF4-FFF2-40B4-BE49-F238E27FC236}">
                <a16:creationId xmlns:a16="http://schemas.microsoft.com/office/drawing/2014/main" id="{2CEB3AE8-A0E9-6A79-FD07-747970172B47}"/>
              </a:ext>
            </a:extLst>
          </p:cNvPr>
          <p:cNvSpPr>
            <a:spLocks noGrp="1"/>
          </p:cNvSpPr>
          <p:nvPr>
            <p:ph type="body" sz="half" idx="2"/>
          </p:nvPr>
        </p:nvSpPr>
        <p:spPr>
          <a:xfrm>
            <a:off x="818712" y="2222287"/>
            <a:ext cx="5351209" cy="3636511"/>
          </a:xfrm>
        </p:spPr>
        <p:txBody>
          <a:bodyPr vert="horz" lIns="91440" tIns="45720" rIns="91440" bIns="45720" rtlCol="0" anchor="ctr">
            <a:normAutofit/>
          </a:bodyPr>
          <a:lstStyle/>
          <a:p>
            <a:pPr>
              <a:buFont typeface="Wingdings 2" charset="2"/>
              <a:buChar char=""/>
            </a:pPr>
            <a:r>
              <a:rPr lang="en-US" dirty="0"/>
              <a:t>The login page allows users to log into the Student Portal using the credentials that they created during the enrollment process.</a:t>
            </a:r>
          </a:p>
          <a:p>
            <a:pPr>
              <a:buFont typeface="Wingdings 2" charset="2"/>
              <a:buChar char=""/>
            </a:pPr>
            <a:r>
              <a:rPr lang="en-US" dirty="0"/>
              <a:t>If the email address or password are incorrect, the user will be prompted to try again.</a:t>
            </a:r>
          </a:p>
          <a:p>
            <a:pPr>
              <a:buFont typeface="Wingdings 2" charset="2"/>
              <a:buChar char=""/>
            </a:pPr>
            <a:r>
              <a:rPr lang="en-US" dirty="0"/>
              <a:t>Upon successfully logging in, the user will be redirected to the Student Portal Homepage.</a:t>
            </a:r>
          </a:p>
        </p:txBody>
      </p:sp>
      <p:sp>
        <p:nvSpPr>
          <p:cNvPr id="22" name="Rectangle 21">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login page&#10;&#10;AI-generated content may be incorrect.">
            <a:extLst>
              <a:ext uri="{FF2B5EF4-FFF2-40B4-BE49-F238E27FC236}">
                <a16:creationId xmlns:a16="http://schemas.microsoft.com/office/drawing/2014/main" id="{F5CBF930-22F2-F019-4441-522E30794C67}"/>
              </a:ext>
            </a:extLst>
          </p:cNvPr>
          <p:cNvPicPr>
            <a:picLocks noChangeAspect="1"/>
          </p:cNvPicPr>
          <p:nvPr/>
        </p:nvPicPr>
        <p:blipFill>
          <a:blip r:embed="rId2">
            <a:extLst>
              <a:ext uri="{28A0092B-C50C-407E-A947-70E740481C1C}">
                <a14:useLocalDpi xmlns:a14="http://schemas.microsoft.com/office/drawing/2010/main" val="0"/>
              </a:ext>
            </a:extLst>
          </a:blip>
          <a:srcRect l="8767" r="10166" b="1"/>
          <a:stretch>
            <a:fillRect/>
          </a:stretch>
        </p:blipFill>
        <p:spPr bwMode="auto">
          <a:xfrm>
            <a:off x="7410517" y="1258529"/>
            <a:ext cx="3832042" cy="4330205"/>
          </a:xfrm>
          <a:prstGeom prst="rect">
            <a:avLst/>
          </a:prstGeom>
          <a:noFill/>
        </p:spPr>
      </p:pic>
    </p:spTree>
    <p:extLst>
      <p:ext uri="{BB962C8B-B14F-4D97-AF65-F5344CB8AC3E}">
        <p14:creationId xmlns:p14="http://schemas.microsoft.com/office/powerpoint/2010/main" val="2993243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1FCF5244-C62C-4E27-B395-14F26DFB1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E158B155-2870-4844-B295-BF04F3849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23">
            <a:extLst>
              <a:ext uri="{FF2B5EF4-FFF2-40B4-BE49-F238E27FC236}">
                <a16:creationId xmlns:a16="http://schemas.microsoft.com/office/drawing/2014/main" id="{8EC6859F-6DE0-454C-AF7C-3CEC5E541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D3A83FD-6DA3-4EB5-2294-644595DE83DD}"/>
              </a:ext>
            </a:extLst>
          </p:cNvPr>
          <p:cNvSpPr>
            <a:spLocks noGrp="1"/>
          </p:cNvSpPr>
          <p:nvPr>
            <p:ph type="title"/>
          </p:nvPr>
        </p:nvSpPr>
        <p:spPr>
          <a:xfrm>
            <a:off x="810001" y="447188"/>
            <a:ext cx="3413084" cy="1559412"/>
          </a:xfrm>
          <a:effectLst/>
        </p:spPr>
        <p:txBody>
          <a:bodyPr vert="horz" lIns="91440" tIns="45720" rIns="91440" bIns="45720" rtlCol="0" anchor="b">
            <a:normAutofit/>
          </a:bodyPr>
          <a:lstStyle/>
          <a:p>
            <a:r>
              <a:rPr lang="en-US" sz="3200">
                <a:solidFill>
                  <a:schemeClr val="tx1"/>
                </a:solidFill>
              </a:rPr>
              <a:t>Databases</a:t>
            </a:r>
          </a:p>
        </p:txBody>
      </p:sp>
      <p:sp>
        <p:nvSpPr>
          <p:cNvPr id="4" name="Text Placeholder 3">
            <a:extLst>
              <a:ext uri="{FF2B5EF4-FFF2-40B4-BE49-F238E27FC236}">
                <a16:creationId xmlns:a16="http://schemas.microsoft.com/office/drawing/2014/main" id="{533FB7DB-9002-D38B-036A-EBF585894BC0}"/>
              </a:ext>
            </a:extLst>
          </p:cNvPr>
          <p:cNvSpPr>
            <a:spLocks noGrp="1"/>
          </p:cNvSpPr>
          <p:nvPr>
            <p:ph type="body" sz="half" idx="2"/>
          </p:nvPr>
        </p:nvSpPr>
        <p:spPr>
          <a:xfrm>
            <a:off x="818713" y="2413000"/>
            <a:ext cx="3404372" cy="3632200"/>
          </a:xfrm>
          <a:effectLst/>
        </p:spPr>
        <p:txBody>
          <a:bodyPr vert="horz" lIns="91440" tIns="45720" rIns="91440" bIns="45720" rtlCol="0" anchor="ctr">
            <a:normAutofit/>
          </a:bodyPr>
          <a:lstStyle/>
          <a:p>
            <a:pPr marL="285750" indent="-285750">
              <a:buFont typeface="Wingdings 2" charset="2"/>
              <a:buChar char=""/>
            </a:pPr>
            <a:r>
              <a:rPr lang="en-US" sz="1600" dirty="0"/>
              <a:t>Three distinct database tables were designed for the University Portal, one to contain all the student information for login purposes, another to contain all the relevant course information, and one more to handle enrollments.</a:t>
            </a:r>
          </a:p>
        </p:txBody>
      </p:sp>
      <p:sp>
        <p:nvSpPr>
          <p:cNvPr id="18" name="Rounded Rectangle 17">
            <a:extLst>
              <a:ext uri="{FF2B5EF4-FFF2-40B4-BE49-F238E27FC236}">
                <a16:creationId xmlns:a16="http://schemas.microsoft.com/office/drawing/2014/main" id="{B54A185E-16AF-4E1A-9E7F-1414E2A34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5A325506-1773-C245-7DE7-00708D655B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622815" y="1269786"/>
            <a:ext cx="5605073" cy="1989800"/>
          </a:xfrm>
          <a:prstGeom prst="rect">
            <a:avLst/>
          </a:prstGeom>
          <a:noFill/>
        </p:spPr>
      </p:pic>
      <p:pic>
        <p:nvPicPr>
          <p:cNvPr id="6" name="Picture 5" descr="A screenshot of a computer&#10;&#10;AI-generated content may be incorrect.">
            <a:extLst>
              <a:ext uri="{FF2B5EF4-FFF2-40B4-BE49-F238E27FC236}">
                <a16:creationId xmlns:a16="http://schemas.microsoft.com/office/drawing/2014/main" id="{A48D9114-130C-CCBB-1309-DFE7B15636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622815" y="3361182"/>
            <a:ext cx="5605072" cy="1191076"/>
          </a:xfrm>
          <a:prstGeom prst="rect">
            <a:avLst/>
          </a:prstGeom>
          <a:noFill/>
        </p:spPr>
      </p:pic>
      <p:pic>
        <p:nvPicPr>
          <p:cNvPr id="7" name="Picture 6" descr="A screenshot of a computer&#10;&#10;AI-generated content may be incorrect.">
            <a:extLst>
              <a:ext uri="{FF2B5EF4-FFF2-40B4-BE49-F238E27FC236}">
                <a16:creationId xmlns:a16="http://schemas.microsoft.com/office/drawing/2014/main" id="{31383CDA-4F46-D494-379B-375F0D2226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5622814" y="4653854"/>
            <a:ext cx="5605073" cy="882798"/>
          </a:xfrm>
          <a:prstGeom prst="rect">
            <a:avLst/>
          </a:prstGeom>
          <a:noFill/>
        </p:spPr>
      </p:pic>
    </p:spTree>
    <p:extLst>
      <p:ext uri="{BB962C8B-B14F-4D97-AF65-F5344CB8AC3E}">
        <p14:creationId xmlns:p14="http://schemas.microsoft.com/office/powerpoint/2010/main" val="2614335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9387ECC-D0C4-CC0F-3E53-A79FE685CDE2}"/>
              </a:ext>
            </a:extLst>
          </p:cNvPr>
          <p:cNvSpPr>
            <a:spLocks noGrp="1"/>
          </p:cNvSpPr>
          <p:nvPr>
            <p:ph type="title"/>
          </p:nvPr>
        </p:nvSpPr>
        <p:spPr>
          <a:xfrm>
            <a:off x="8164749" y="457201"/>
            <a:ext cx="3575737" cy="1332688"/>
          </a:xfrm>
        </p:spPr>
        <p:txBody>
          <a:bodyPr vert="horz" lIns="91440" tIns="45720" rIns="91440" bIns="45720" rtlCol="0" anchor="b">
            <a:normAutofit/>
          </a:bodyPr>
          <a:lstStyle/>
          <a:p>
            <a:pPr algn="ctr"/>
            <a:r>
              <a:rPr lang="en-US" sz="3200">
                <a:solidFill>
                  <a:srgbClr val="FFFFFF"/>
                </a:solidFill>
              </a:rPr>
              <a:t>Class Registration</a:t>
            </a:r>
          </a:p>
        </p:txBody>
      </p:sp>
      <p:pic>
        <p:nvPicPr>
          <p:cNvPr id="5" name="Picture 4" descr="A screenshot of a computer&#10;&#10;AI-generated content may be incorrect.">
            <a:extLst>
              <a:ext uri="{FF2B5EF4-FFF2-40B4-BE49-F238E27FC236}">
                <a16:creationId xmlns:a16="http://schemas.microsoft.com/office/drawing/2014/main" id="{62FD35C5-66CA-7336-9F2B-1453DDA10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88531" y="457201"/>
            <a:ext cx="6363715" cy="5584161"/>
          </a:xfrm>
          <a:prstGeom prst="roundRect">
            <a:avLst>
              <a:gd name="adj" fmla="val 3876"/>
            </a:avLst>
          </a:prstGeom>
          <a:noFill/>
          <a:ln>
            <a:solidFill>
              <a:schemeClr val="accent1"/>
            </a:solidFill>
          </a:ln>
          <a:effectLst/>
        </p:spPr>
      </p:pic>
      <p:sp>
        <p:nvSpPr>
          <p:cNvPr id="4" name="Text Placeholder 3">
            <a:extLst>
              <a:ext uri="{FF2B5EF4-FFF2-40B4-BE49-F238E27FC236}">
                <a16:creationId xmlns:a16="http://schemas.microsoft.com/office/drawing/2014/main" id="{D36E6CFA-61FA-590B-0F66-D196D790C239}"/>
              </a:ext>
            </a:extLst>
          </p:cNvPr>
          <p:cNvSpPr>
            <a:spLocks noGrp="1"/>
          </p:cNvSpPr>
          <p:nvPr>
            <p:ph type="body" sz="half" idx="2"/>
          </p:nvPr>
        </p:nvSpPr>
        <p:spPr>
          <a:xfrm>
            <a:off x="8164749" y="2024743"/>
            <a:ext cx="3575737" cy="4016619"/>
          </a:xfrm>
        </p:spPr>
        <p:txBody>
          <a:bodyPr vert="horz" lIns="91440" tIns="45720" rIns="91440" bIns="45720" rtlCol="0" anchor="ctr">
            <a:normAutofit/>
          </a:bodyPr>
          <a:lstStyle/>
          <a:p>
            <a:pPr>
              <a:buFont typeface="Wingdings 2" charset="2"/>
              <a:buChar char=""/>
            </a:pPr>
            <a:r>
              <a:rPr lang="en-US" sz="1600" dirty="0">
                <a:solidFill>
                  <a:srgbClr val="FFFFFF"/>
                </a:solidFill>
              </a:rPr>
              <a:t>After logging in and being redirected to the Student Portal Homepage, the user has three choices. </a:t>
            </a:r>
          </a:p>
          <a:p>
            <a:pPr>
              <a:buFont typeface="Wingdings 2" charset="2"/>
              <a:buChar char=""/>
            </a:pPr>
            <a:r>
              <a:rPr lang="en-US" sz="1600" dirty="0">
                <a:solidFill>
                  <a:srgbClr val="FFFFFF"/>
                </a:solidFill>
              </a:rPr>
              <a:t>They can register for classes, view their registered classes, or logout of the portal.</a:t>
            </a:r>
          </a:p>
        </p:txBody>
      </p:sp>
    </p:spTree>
    <p:extLst>
      <p:ext uri="{BB962C8B-B14F-4D97-AF65-F5344CB8AC3E}">
        <p14:creationId xmlns:p14="http://schemas.microsoft.com/office/powerpoint/2010/main" val="4234475695"/>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7AB45A-45D3-ECB0-6DD9-6AF5C04CDF74}"/>
            </a:ext>
          </a:extLst>
        </p:cNvPr>
        <p:cNvGrpSpPr/>
        <p:nvPr/>
      </p:nvGrpSpPr>
      <p:grpSpPr>
        <a:xfrm>
          <a:off x="0" y="0"/>
          <a:ext cx="0" cy="0"/>
          <a:chOff x="0" y="0"/>
          <a:chExt cx="0" cy="0"/>
        </a:xfrm>
      </p:grpSpPr>
      <p:sp>
        <p:nvSpPr>
          <p:cNvPr id="9"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9D336D4B-F9C3-4167-9191-8DA896C80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069BF0B4-2BF1-40F2-8D8E-9CFCED97D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0" y="4672012"/>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4AF2C28-D826-CB4E-EA83-B93121867FAD}"/>
              </a:ext>
            </a:extLst>
          </p:cNvPr>
          <p:cNvSpPr>
            <a:spLocks noGrp="1"/>
          </p:cNvSpPr>
          <p:nvPr>
            <p:ph type="title"/>
          </p:nvPr>
        </p:nvSpPr>
        <p:spPr>
          <a:xfrm>
            <a:off x="451513" y="5176569"/>
            <a:ext cx="4589009" cy="970450"/>
          </a:xfrm>
        </p:spPr>
        <p:txBody>
          <a:bodyPr vert="horz" lIns="91440" tIns="45720" rIns="91440" bIns="45720" rtlCol="0" anchor="ctr">
            <a:normAutofit/>
          </a:bodyPr>
          <a:lstStyle/>
          <a:p>
            <a:r>
              <a:rPr lang="en-US" sz="2400"/>
              <a:t>Class Registration</a:t>
            </a:r>
          </a:p>
        </p:txBody>
      </p:sp>
      <p:pic>
        <p:nvPicPr>
          <p:cNvPr id="3" name="Picture 2" descr="A screenshot of a computer&#10;&#10;AI-generated content may be incorrect.">
            <a:extLst>
              <a:ext uri="{FF2B5EF4-FFF2-40B4-BE49-F238E27FC236}">
                <a16:creationId xmlns:a16="http://schemas.microsoft.com/office/drawing/2014/main" id="{0EB25296-DA5E-70F8-AD02-696AAF55B7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514351" y="514350"/>
            <a:ext cx="10995643" cy="3930942"/>
          </a:xfrm>
          <a:prstGeom prst="roundRect">
            <a:avLst>
              <a:gd name="adj" fmla="val 3876"/>
            </a:avLst>
          </a:prstGeom>
          <a:noFill/>
          <a:ln>
            <a:solidFill>
              <a:schemeClr val="accent1"/>
            </a:solidFill>
          </a:ln>
          <a:effectLst/>
        </p:spPr>
      </p:pic>
      <p:sp>
        <p:nvSpPr>
          <p:cNvPr id="4" name="Text Placeholder 3">
            <a:extLst>
              <a:ext uri="{FF2B5EF4-FFF2-40B4-BE49-F238E27FC236}">
                <a16:creationId xmlns:a16="http://schemas.microsoft.com/office/drawing/2014/main" id="{E614D7D6-2C0E-CEC1-DB95-620A1D4DFA2D}"/>
              </a:ext>
            </a:extLst>
          </p:cNvPr>
          <p:cNvSpPr>
            <a:spLocks noGrp="1"/>
          </p:cNvSpPr>
          <p:nvPr>
            <p:ph type="body" sz="half" idx="2"/>
          </p:nvPr>
        </p:nvSpPr>
        <p:spPr>
          <a:xfrm>
            <a:off x="4659085" y="5176569"/>
            <a:ext cx="6395601" cy="1519506"/>
          </a:xfrm>
        </p:spPr>
        <p:txBody>
          <a:bodyPr vert="horz" lIns="91440" tIns="45720" rIns="91440" bIns="45720" rtlCol="0" anchor="ctr">
            <a:normAutofit/>
          </a:bodyPr>
          <a:lstStyle/>
          <a:p>
            <a:pPr>
              <a:lnSpc>
                <a:spcPct val="90000"/>
              </a:lnSpc>
              <a:buFont typeface="Wingdings 2" charset="2"/>
              <a:buChar char=""/>
            </a:pPr>
            <a:r>
              <a:rPr lang="en-US" sz="1200" dirty="0">
                <a:solidFill>
                  <a:srgbClr val="FEFEFE"/>
                </a:solidFill>
              </a:rPr>
              <a:t>The course registration page contains all the course information retrieved from the database table, including the name, course ID, prefix, start date, and cost.</a:t>
            </a:r>
          </a:p>
          <a:p>
            <a:pPr>
              <a:lnSpc>
                <a:spcPct val="90000"/>
              </a:lnSpc>
              <a:buFont typeface="Wingdings 2" charset="2"/>
              <a:buChar char=""/>
            </a:pPr>
            <a:r>
              <a:rPr lang="en-US" sz="1200" dirty="0">
                <a:solidFill>
                  <a:srgbClr val="FEFEFE"/>
                </a:solidFill>
              </a:rPr>
              <a:t>Next to every course is a register button which will enroll the user in the course and record it in the enrollment database table.</a:t>
            </a:r>
          </a:p>
          <a:p>
            <a:pPr>
              <a:lnSpc>
                <a:spcPct val="90000"/>
              </a:lnSpc>
              <a:buFont typeface="Wingdings 2" charset="2"/>
              <a:buChar char=""/>
            </a:pPr>
            <a:r>
              <a:rPr lang="en-US" sz="1200" dirty="0">
                <a:solidFill>
                  <a:srgbClr val="FEFEFE"/>
                </a:solidFill>
              </a:rPr>
              <a:t>If the user attempts to register for a course they are already enrolled in, it will give them a warning and inform them of the situation.</a:t>
            </a:r>
          </a:p>
        </p:txBody>
      </p:sp>
    </p:spTree>
    <p:extLst>
      <p:ext uri="{BB962C8B-B14F-4D97-AF65-F5344CB8AC3E}">
        <p14:creationId xmlns:p14="http://schemas.microsoft.com/office/powerpoint/2010/main" val="1238975248"/>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FAF0E0-C789-368F-A74A-C2DA3581D8A9}"/>
            </a:ext>
          </a:extLst>
        </p:cNvPr>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9D336D4B-F9C3-4167-9191-8DA896C80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6">
            <a:extLst>
              <a:ext uri="{FF2B5EF4-FFF2-40B4-BE49-F238E27FC236}">
                <a16:creationId xmlns:a16="http://schemas.microsoft.com/office/drawing/2014/main" id="{069BF0B4-2BF1-40F2-8D8E-9CFCED97D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0" y="4672012"/>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73791E9-69EF-370E-AE1B-F9C05AB04E9A}"/>
              </a:ext>
            </a:extLst>
          </p:cNvPr>
          <p:cNvSpPr>
            <a:spLocks noGrp="1"/>
          </p:cNvSpPr>
          <p:nvPr>
            <p:ph type="title"/>
          </p:nvPr>
        </p:nvSpPr>
        <p:spPr>
          <a:xfrm>
            <a:off x="451513" y="5176569"/>
            <a:ext cx="4589009" cy="970450"/>
          </a:xfrm>
        </p:spPr>
        <p:txBody>
          <a:bodyPr vert="horz" lIns="91440" tIns="45720" rIns="91440" bIns="45720" rtlCol="0" anchor="ctr">
            <a:normAutofit/>
          </a:bodyPr>
          <a:lstStyle/>
          <a:p>
            <a:r>
              <a:rPr lang="en-US" sz="2400"/>
              <a:t>Class Registration</a:t>
            </a:r>
          </a:p>
        </p:txBody>
      </p:sp>
      <p:pic>
        <p:nvPicPr>
          <p:cNvPr id="5" name="Picture 4" descr="A screenshot of a computer&#10;&#10;AI-generated content may be incorrect.">
            <a:extLst>
              <a:ext uri="{FF2B5EF4-FFF2-40B4-BE49-F238E27FC236}">
                <a16:creationId xmlns:a16="http://schemas.microsoft.com/office/drawing/2014/main" id="{A81D1D5F-0933-2B9A-34E9-9C9FAA1A06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514351" y="833234"/>
            <a:ext cx="11163299" cy="3293173"/>
          </a:xfrm>
          <a:prstGeom prst="roundRect">
            <a:avLst>
              <a:gd name="adj" fmla="val 3876"/>
            </a:avLst>
          </a:prstGeom>
          <a:noFill/>
          <a:ln>
            <a:solidFill>
              <a:schemeClr val="accent1"/>
            </a:solidFill>
          </a:ln>
          <a:effectLst/>
        </p:spPr>
      </p:pic>
      <p:sp>
        <p:nvSpPr>
          <p:cNvPr id="15" name="Text Placeholder 3">
            <a:extLst>
              <a:ext uri="{FF2B5EF4-FFF2-40B4-BE49-F238E27FC236}">
                <a16:creationId xmlns:a16="http://schemas.microsoft.com/office/drawing/2014/main" id="{A662C4C8-422C-844D-752F-348BC207C0B3}"/>
              </a:ext>
            </a:extLst>
          </p:cNvPr>
          <p:cNvSpPr txBox="1">
            <a:spLocks/>
          </p:cNvSpPr>
          <p:nvPr/>
        </p:nvSpPr>
        <p:spPr>
          <a:xfrm>
            <a:off x="4659085" y="5176569"/>
            <a:ext cx="6395601" cy="1519506"/>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0" indent="0" algn="l" defTabSz="457200" rtl="0" eaLnBrk="1" latinLnBrk="0" hangingPunct="1">
              <a:spcBef>
                <a:spcPct val="20000"/>
              </a:spcBef>
              <a:spcAft>
                <a:spcPts val="600"/>
              </a:spcAft>
              <a:buClr>
                <a:schemeClr val="accent1"/>
              </a:buClr>
              <a:buFont typeface="Wingdings 2" charset="2"/>
              <a:buNone/>
              <a:defRPr sz="1400" kern="1200">
                <a:solidFill>
                  <a:schemeClr val="tx1"/>
                </a:solidFill>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200" kern="1200">
                <a:solidFill>
                  <a:schemeClr val="tx1"/>
                </a:solidFill>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000" kern="1200">
                <a:solidFill>
                  <a:schemeClr val="tx1"/>
                </a:solidFill>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9pPr>
          </a:lstStyle>
          <a:p>
            <a:pPr>
              <a:lnSpc>
                <a:spcPct val="90000"/>
              </a:lnSpc>
              <a:buFont typeface="Wingdings 2" charset="2"/>
              <a:buChar char=""/>
            </a:pPr>
            <a:r>
              <a:rPr lang="en-US" sz="1200" dirty="0">
                <a:solidFill>
                  <a:srgbClr val="FEFEFE"/>
                </a:solidFill>
              </a:rPr>
              <a:t>The enrollments page contains all of the courses that the student is currently enrolled for, in addition to information about those courses.</a:t>
            </a:r>
          </a:p>
          <a:p>
            <a:pPr>
              <a:lnSpc>
                <a:spcPct val="90000"/>
              </a:lnSpc>
              <a:buFont typeface="Wingdings 2" charset="2"/>
              <a:buChar char=""/>
            </a:pPr>
            <a:r>
              <a:rPr lang="en-US" sz="1200" dirty="0">
                <a:solidFill>
                  <a:srgbClr val="FEFEFE"/>
                </a:solidFill>
              </a:rPr>
              <a:t>These enrolled courses are stored in the database table, and the user can remove any of them by pressing the remove button on the far right.</a:t>
            </a:r>
          </a:p>
          <a:p>
            <a:pPr>
              <a:lnSpc>
                <a:spcPct val="90000"/>
              </a:lnSpc>
              <a:buFont typeface="Wingdings 2" charset="2"/>
              <a:buChar char=""/>
            </a:pPr>
            <a:r>
              <a:rPr lang="en-US" sz="1200" dirty="0">
                <a:solidFill>
                  <a:srgbClr val="FEFEFE"/>
                </a:solidFill>
              </a:rPr>
              <a:t>When this button is pressed, the course will be simultaneously removed from the database table, as well as the web page. </a:t>
            </a:r>
          </a:p>
        </p:txBody>
      </p:sp>
    </p:spTree>
    <p:extLst>
      <p:ext uri="{BB962C8B-B14F-4D97-AF65-F5344CB8AC3E}">
        <p14:creationId xmlns:p14="http://schemas.microsoft.com/office/powerpoint/2010/main" val="1608329195"/>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059C8-4062-B43D-DA42-F05DD4FB4B3B}"/>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98E7911-545F-0214-F3A6-461D9A75B1B8}"/>
              </a:ext>
            </a:extLst>
          </p:cNvPr>
          <p:cNvSpPr>
            <a:spLocks noGrp="1"/>
          </p:cNvSpPr>
          <p:nvPr>
            <p:ph idx="1"/>
          </p:nvPr>
        </p:nvSpPr>
        <p:spPr>
          <a:xfrm>
            <a:off x="818712" y="2386189"/>
            <a:ext cx="10554574" cy="3636511"/>
          </a:xfrm>
        </p:spPr>
        <p:txBody>
          <a:bodyPr/>
          <a:lstStyle/>
          <a:p>
            <a:pPr marL="457200" marR="0" indent="-457200">
              <a:lnSpc>
                <a:spcPct val="200000"/>
              </a:lnSpc>
              <a:spcAft>
                <a:spcPts val="800"/>
              </a:spcAft>
              <a:buNone/>
            </a:pPr>
            <a:r>
              <a:rPr lang="en-US" sz="1800" i="1" dirty="0">
                <a:effectLst/>
                <a:latin typeface="Times New Roman" panose="02020603050405020304" pitchFamily="18" charset="0"/>
                <a:ea typeface="Times New Roman" panose="02020603050405020304" pitchFamily="18" charset="0"/>
              </a:rPr>
              <a:t>Functional vs. Non Functional Requirements</a:t>
            </a:r>
            <a:r>
              <a:rPr lang="en-US" sz="1800" dirty="0">
                <a:effectLst/>
                <a:latin typeface="Times New Roman" panose="02020603050405020304" pitchFamily="18" charset="0"/>
                <a:ea typeface="Times New Roman" panose="02020603050405020304" pitchFamily="18" charset="0"/>
              </a:rPr>
              <a:t>. (2020, April 28). </a:t>
            </a:r>
            <a:r>
              <a:rPr lang="en-US" sz="1800" dirty="0" err="1">
                <a:effectLst/>
                <a:latin typeface="Times New Roman" panose="02020603050405020304" pitchFamily="18" charset="0"/>
                <a:ea typeface="Times New Roman" panose="02020603050405020304" pitchFamily="18" charset="0"/>
              </a:rPr>
              <a:t>GeeksforGeeks</a:t>
            </a:r>
            <a:r>
              <a:rPr lang="en-US" sz="1800" dirty="0">
                <a:effectLst/>
                <a:latin typeface="Times New Roman" panose="02020603050405020304" pitchFamily="18" charset="0"/>
                <a:ea typeface="Times New Roman" panose="02020603050405020304" pitchFamily="18" charset="0"/>
              </a:rPr>
              <a:t>. https://www.geeksforgeeks.org/software-engineering/functional-vs-non-functional-requirements/</a:t>
            </a:r>
            <a:endParaRPr lang="en-US" sz="1800" dirty="0">
              <a:effectLst/>
              <a:latin typeface="Times New Roman" panose="02020603050405020304" pitchFamily="18" charset="0"/>
              <a:ea typeface="Yu Mincho" panose="02020400000000000000" pitchFamily="18" charset="-128"/>
            </a:endParaRPr>
          </a:p>
          <a:p>
            <a:pPr marL="457200" marR="0" indent="-457200">
              <a:lnSpc>
                <a:spcPct val="200000"/>
              </a:lnSpc>
              <a:spcAft>
                <a:spcPts val="800"/>
              </a:spcAft>
              <a:buNone/>
            </a:pPr>
            <a:r>
              <a:rPr lang="en-US" sz="1800" i="1" dirty="0" err="1">
                <a:effectLst/>
                <a:latin typeface="Times New Roman" panose="02020603050405020304" pitchFamily="18" charset="0"/>
                <a:ea typeface="Times New Roman" panose="02020603050405020304" pitchFamily="18" charset="0"/>
                <a:cs typeface="Times New Roman" panose="02020603050405020304" pitchFamily="18" charset="0"/>
              </a:rPr>
              <a:t>NonFunctional</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 Requirements in Software Engineering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(2020, June 3).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GeeksforGeeks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hlinkClick r:id="rId2"/>
              </a:rPr>
              <a:t>https://www.geeksforgeeks.org/software-engineering/non-functional-requirements-in-software-engineering/</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marR="0" indent="-457200">
              <a:lnSpc>
                <a:spcPct val="200000"/>
              </a:lnSpc>
              <a:spcAft>
                <a:spcPts val="800"/>
              </a:spcAft>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Tsui, F., Karam, O., &amp; Bernal, B. (2018). </a:t>
            </a:r>
            <a:r>
              <a:rPr lang="en-US" sz="1600" i="1" dirty="0">
                <a:effectLst/>
                <a:latin typeface="Times New Roman" panose="02020603050405020304" pitchFamily="18" charset="0"/>
                <a:ea typeface="Times New Roman" panose="02020603050405020304" pitchFamily="18" charset="0"/>
                <a:cs typeface="Times New Roman" panose="02020603050405020304" pitchFamily="18" charset="0"/>
              </a:rPr>
              <a:t>Essentials of software engineering</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(4th ed.). Jones &amp; Bartlett Learning. </a:t>
            </a:r>
            <a:endParaRPr lang="en-US" sz="1600" dirty="0">
              <a:effectLst/>
              <a:latin typeface="Calibri" panose="020F0502020204030204" pitchFamily="34" charset="0"/>
              <a:ea typeface="Yu Mincho" panose="02020400000000000000" pitchFamily="18" charset="-128"/>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002918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3" name="Freeform 6">
            <a:extLst>
              <a:ext uri="{FF2B5EF4-FFF2-40B4-BE49-F238E27FC236}">
                <a16:creationId xmlns:a16="http://schemas.microsoft.com/office/drawing/2014/main" id="{E5A10C92-5805-4C39-9BF6-507F3B9661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Group of coworkers collaborating around a table">
            <a:extLst>
              <a:ext uri="{FF2B5EF4-FFF2-40B4-BE49-F238E27FC236}">
                <a16:creationId xmlns:a16="http://schemas.microsoft.com/office/drawing/2014/main" id="{FB5DBD6C-E8A8-B349-AC85-61C44AAEA056}"/>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brightnessContrast bright="-46000"/>
                    </a14:imgEffect>
                  </a14:imgLayer>
                </a14:imgProps>
              </a:ext>
              <a:ext uri="{28A0092B-C50C-407E-A947-70E740481C1C}">
                <a14:useLocalDpi xmlns:a14="http://schemas.microsoft.com/office/drawing/2010/main"/>
              </a:ext>
            </a:extLst>
          </a:blip>
          <a:srcRect l="3328" r="3697" b="-1"/>
          <a:stretch/>
        </p:blipFill>
        <p:spPr>
          <a:xfrm>
            <a:off x="-1" y="-1"/>
            <a:ext cx="12203151" cy="6858000"/>
          </a:xfrm>
          <a:prstGeom prst="rect">
            <a:avLst/>
          </a:prstGeom>
        </p:spPr>
      </p:pic>
      <p:sp>
        <p:nvSpPr>
          <p:cNvPr id="25" name="Rectangle 24">
            <a:extLst>
              <a:ext uri="{FF2B5EF4-FFF2-40B4-BE49-F238E27FC236}">
                <a16:creationId xmlns:a16="http://schemas.microsoft.com/office/drawing/2014/main" id="{0C2CC41E-4EEC-4D67-B433-E1CDC58798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1153"/>
            <a:ext cx="12192001" cy="6880304"/>
          </a:xfrm>
          <a:prstGeom prst="rect">
            <a:avLst/>
          </a:prstGeom>
          <a:solidFill>
            <a:schemeClr val="accent1">
              <a:alpha val="62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Freeform 22">
            <a:extLst>
              <a:ext uri="{FF2B5EF4-FFF2-40B4-BE49-F238E27FC236}">
                <a16:creationId xmlns:a16="http://schemas.microsoft.com/office/drawing/2014/main" id="{B114AB90-13F9-48EF-BFF7-7634459AA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25094"/>
            <a:ext cx="12192000" cy="2332906"/>
          </a:xfrm>
          <a:custGeom>
            <a:avLst/>
            <a:gdLst>
              <a:gd name="connsiteX0" fmla="*/ 0 w 12192000"/>
              <a:gd name="connsiteY0" fmla="*/ 0 h 2332906"/>
              <a:gd name="connsiteX1" fmla="*/ 1996017 w 12192000"/>
              <a:gd name="connsiteY1" fmla="*/ 0 h 2332906"/>
              <a:gd name="connsiteX2" fmla="*/ 2377017 w 12192000"/>
              <a:gd name="connsiteY2" fmla="*/ 263783 h 2332906"/>
              <a:gd name="connsiteX3" fmla="*/ 2385484 w 12192000"/>
              <a:gd name="connsiteY3" fmla="*/ 266713 h 2332906"/>
              <a:gd name="connsiteX4" fmla="*/ 2398184 w 12192000"/>
              <a:gd name="connsiteY4" fmla="*/ 271110 h 2332906"/>
              <a:gd name="connsiteX5" fmla="*/ 2410883 w 12192000"/>
              <a:gd name="connsiteY5" fmla="*/ 275506 h 2332906"/>
              <a:gd name="connsiteX6" fmla="*/ 2421467 w 12192000"/>
              <a:gd name="connsiteY6" fmla="*/ 275506 h 2332906"/>
              <a:gd name="connsiteX7" fmla="*/ 2434167 w 12192000"/>
              <a:gd name="connsiteY7" fmla="*/ 275506 h 2332906"/>
              <a:gd name="connsiteX8" fmla="*/ 2444750 w 12192000"/>
              <a:gd name="connsiteY8" fmla="*/ 271110 h 2332906"/>
              <a:gd name="connsiteX9" fmla="*/ 2457450 w 12192000"/>
              <a:gd name="connsiteY9" fmla="*/ 266713 h 2332906"/>
              <a:gd name="connsiteX10" fmla="*/ 2465917 w 12192000"/>
              <a:gd name="connsiteY10" fmla="*/ 263783 h 2332906"/>
              <a:gd name="connsiteX11" fmla="*/ 2846917 w 12192000"/>
              <a:gd name="connsiteY11" fmla="*/ 0 h 2332906"/>
              <a:gd name="connsiteX12" fmla="*/ 12192000 w 12192000"/>
              <a:gd name="connsiteY12" fmla="*/ 0 h 2332906"/>
              <a:gd name="connsiteX13" fmla="*/ 12192000 w 12192000"/>
              <a:gd name="connsiteY13" fmla="*/ 2332906 h 2332906"/>
              <a:gd name="connsiteX14" fmla="*/ 0 w 12192000"/>
              <a:gd name="connsiteY14" fmla="*/ 2332906 h 233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2332906">
                <a:moveTo>
                  <a:pt x="0" y="0"/>
                </a:moveTo>
                <a:lnTo>
                  <a:pt x="1996017" y="0"/>
                </a:lnTo>
                <a:lnTo>
                  <a:pt x="2377017" y="263783"/>
                </a:lnTo>
                <a:lnTo>
                  <a:pt x="2385484" y="266713"/>
                </a:lnTo>
                <a:lnTo>
                  <a:pt x="2398184" y="271110"/>
                </a:lnTo>
                <a:lnTo>
                  <a:pt x="2410883" y="275506"/>
                </a:lnTo>
                <a:lnTo>
                  <a:pt x="2421467" y="275506"/>
                </a:lnTo>
                <a:lnTo>
                  <a:pt x="2434167" y="275506"/>
                </a:lnTo>
                <a:lnTo>
                  <a:pt x="2444750" y="271110"/>
                </a:lnTo>
                <a:lnTo>
                  <a:pt x="2457450" y="266713"/>
                </a:lnTo>
                <a:lnTo>
                  <a:pt x="2465917" y="263783"/>
                </a:lnTo>
                <a:lnTo>
                  <a:pt x="2846917" y="0"/>
                </a:lnTo>
                <a:lnTo>
                  <a:pt x="12192000" y="0"/>
                </a:lnTo>
                <a:lnTo>
                  <a:pt x="12192000" y="2332906"/>
                </a:lnTo>
                <a:lnTo>
                  <a:pt x="0" y="2332906"/>
                </a:lnTo>
                <a:close/>
              </a:path>
            </a:pathLst>
          </a:custGeom>
          <a:solidFill>
            <a:schemeClr val="bg1">
              <a:alpha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66081D-517B-5D43-A7B4-E67DDEDC0B31}"/>
              </a:ext>
            </a:extLst>
          </p:cNvPr>
          <p:cNvSpPr>
            <a:spLocks noGrp="1"/>
          </p:cNvSpPr>
          <p:nvPr>
            <p:ph type="title"/>
          </p:nvPr>
        </p:nvSpPr>
        <p:spPr>
          <a:xfrm>
            <a:off x="810001" y="4902200"/>
            <a:ext cx="10572000" cy="694862"/>
          </a:xfrm>
        </p:spPr>
        <p:txBody>
          <a:bodyPr vert="horz" lIns="91440" tIns="45720" rIns="91440" bIns="45720" rtlCol="0" anchor="b">
            <a:normAutofit/>
          </a:bodyPr>
          <a:lstStyle/>
          <a:p>
            <a:pPr algn="l">
              <a:lnSpc>
                <a:spcPct val="90000"/>
              </a:lnSpc>
            </a:pPr>
            <a:r>
              <a:rPr lang="en-US" sz="3200" dirty="0"/>
              <a:t>Thank You University of Arizona Global Campus!</a:t>
            </a:r>
          </a:p>
        </p:txBody>
      </p:sp>
      <p:sp>
        <p:nvSpPr>
          <p:cNvPr id="3" name="Text Placeholder 2">
            <a:extLst>
              <a:ext uri="{FF2B5EF4-FFF2-40B4-BE49-F238E27FC236}">
                <a16:creationId xmlns:a16="http://schemas.microsoft.com/office/drawing/2014/main" id="{2D219505-9D7D-47EE-B8DA-D2301EBFA319}"/>
              </a:ext>
            </a:extLst>
          </p:cNvPr>
          <p:cNvSpPr>
            <a:spLocks noGrp="1"/>
          </p:cNvSpPr>
          <p:nvPr>
            <p:ph type="body" idx="1"/>
          </p:nvPr>
        </p:nvSpPr>
        <p:spPr>
          <a:xfrm>
            <a:off x="810001" y="5594110"/>
            <a:ext cx="10572000" cy="434974"/>
          </a:xfrm>
        </p:spPr>
        <p:txBody>
          <a:bodyPr vert="horz" lIns="91440" tIns="45720" rIns="91440" bIns="45720" rtlCol="0" anchor="t">
            <a:normAutofit/>
          </a:bodyPr>
          <a:lstStyle/>
          <a:p>
            <a:pPr algn="l"/>
            <a:r>
              <a:rPr lang="en-US" dirty="0"/>
              <a:t>Christopher Rodriguez-Wakim</a:t>
            </a:r>
          </a:p>
        </p:txBody>
      </p:sp>
    </p:spTree>
    <p:extLst>
      <p:ext uri="{BB962C8B-B14F-4D97-AF65-F5344CB8AC3E}">
        <p14:creationId xmlns:p14="http://schemas.microsoft.com/office/powerpoint/2010/main" val="1415831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6E1812AF-5C4C-4B75-9015-C90088D3D4BF}">
  <ds:schemaRefs>
    <ds:schemaRef ds:uri="http://schemas.microsoft.com/sharepoint/v3/contenttype/forms"/>
  </ds:schemaRefs>
</ds:datastoreItem>
</file>

<file path=customXml/itemProps2.xml><?xml version="1.0" encoding="utf-8"?>
<ds:datastoreItem xmlns:ds="http://schemas.openxmlformats.org/officeDocument/2006/customXml" ds:itemID="{BF0B771C-53D0-4C6A-8C2A-F95E45907F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E15C130-17B0-43C9-B99C-584294C40B5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Agency design</Template>
  <TotalTime>72</TotalTime>
  <Words>925</Words>
  <Application>Microsoft Office PowerPoint</Application>
  <PresentationFormat>Widescreen</PresentationFormat>
  <Paragraphs>60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Century Gothic</vt:lpstr>
      <vt:lpstr>Times New Roman</vt:lpstr>
      <vt:lpstr>Wingdings 2</vt:lpstr>
      <vt:lpstr>Quotable</vt:lpstr>
      <vt:lpstr>CST499 University Portal</vt:lpstr>
      <vt:lpstr>SRS Document Key Aspects</vt:lpstr>
      <vt:lpstr>SRS Document Key Aspects</vt:lpstr>
      <vt:lpstr>UML Design Models</vt:lpstr>
      <vt:lpstr>UML Design Models</vt:lpstr>
      <vt:lpstr>UML Design Models</vt:lpstr>
      <vt:lpstr>UML Design Models</vt:lpstr>
      <vt:lpstr>UML Design Models</vt:lpstr>
      <vt:lpstr>Landing, Login, and Enrollment</vt:lpstr>
      <vt:lpstr>Landing, Login, and Enrollment</vt:lpstr>
      <vt:lpstr>Landing, Login, and Enrollment</vt:lpstr>
      <vt:lpstr>Databases</vt:lpstr>
      <vt:lpstr>Class Registration</vt:lpstr>
      <vt:lpstr>Class Registration</vt:lpstr>
      <vt:lpstr>Class Registration</vt:lpstr>
      <vt:lpstr>References</vt:lpstr>
      <vt:lpstr>Thank You University of Arizona Global Campus!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Wakim</dc:creator>
  <cp:lastModifiedBy>Chris Wakim</cp:lastModifiedBy>
  <cp:revision>2</cp:revision>
  <dcterms:created xsi:type="dcterms:W3CDTF">2025-11-02T19:59:29Z</dcterms:created>
  <dcterms:modified xsi:type="dcterms:W3CDTF">2025-11-02T21:12:03Z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